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231575" cy="1269187"/>
          </a:xfrm>
          <a:prstGeom prst="rect">
            <a:avLst/>
          </a:prstGeom>
          <a:solidFill>
            <a:srgbClr val="F0F0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457200" cy="126918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应用层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28600"/>
            <a:ext cx="1753057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系统应用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2493721" y="228600"/>
            <a:ext cx="1753057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桌面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4210" y="228600"/>
            <a:ext cx="1753057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控制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6054699" y="228600"/>
            <a:ext cx="1753057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设置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7835188" y="228600"/>
            <a:ext cx="1753057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电话</a:t>
            </a:r>
          </a:p>
        </p:txBody>
      </p:sp>
      <p:sp>
        <p:nvSpPr>
          <p:cNvPr id="9" name="Rectangle 8"/>
          <p:cNvSpPr/>
          <p:nvPr/>
        </p:nvSpPr>
        <p:spPr>
          <a:xfrm>
            <a:off x="9615678" y="228600"/>
            <a:ext cx="1753057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831189"/>
            <a:ext cx="1498701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OpenHarmony SDK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39365" y="831189"/>
            <a:ext cx="1498701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Ability Kit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65499" y="831189"/>
            <a:ext cx="1498701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ArkTS/合辑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91632" y="831189"/>
            <a:ext cx="1498701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ArkData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7766" y="831189"/>
            <a:ext cx="1498701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ArkUI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43900" y="831189"/>
            <a:ext cx="1498701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ArkWeb…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0033" y="831189"/>
            <a:ext cx="1498701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Xxx.kit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488643"/>
            <a:ext cx="11231575" cy="1269187"/>
          </a:xfrm>
          <a:prstGeom prst="rect">
            <a:avLst/>
          </a:prstGeom>
          <a:solidFill>
            <a:srgbClr val="F0F0F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1488643"/>
            <a:ext cx="457200" cy="126918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应用框架层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1534363"/>
            <a:ext cx="5314035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UI框架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4699" y="1534363"/>
            <a:ext cx="5314035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元能力框架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2136952"/>
            <a:ext cx="10655503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用户程序框架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794406"/>
            <a:ext cx="11231575" cy="1269187"/>
          </a:xfrm>
          <a:prstGeom prst="rect">
            <a:avLst/>
          </a:prstGeom>
          <a:solidFill>
            <a:srgbClr val="E6F0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2794406"/>
            <a:ext cx="457200" cy="1269187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系统服务层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2840126"/>
            <a:ext cx="1307934" cy="22814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00" b="1">
                <a:solidFill>
                  <a:srgbClr val="000000"/>
                </a:solidFill>
                <a:latin typeface="SimHei"/>
              </a:defRPr>
            </a:pPr>
            <a:r>
              <a:t>分布式任务调度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48598" y="2840126"/>
            <a:ext cx="1307934" cy="22814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00" b="1">
                <a:solidFill>
                  <a:srgbClr val="000000"/>
                </a:solidFill>
                <a:latin typeface="SimHei"/>
              </a:defRPr>
            </a:pPr>
            <a:r>
              <a:t>多模输入子系统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095701"/>
            <a:ext cx="1307934" cy="22814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00" b="1">
                <a:solidFill>
                  <a:srgbClr val="000000"/>
                </a:solidFill>
                <a:latin typeface="SimHei"/>
              </a:defRPr>
            </a:pPr>
            <a:r>
              <a:t>分布式数据管理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48598" y="3095701"/>
            <a:ext cx="1307934" cy="22814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00" b="1">
                <a:solidFill>
                  <a:srgbClr val="000000"/>
                </a:solidFill>
                <a:latin typeface="SimHei"/>
              </a:defRPr>
            </a:pPr>
            <a:r>
              <a:t>图形图像子系统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3351276"/>
            <a:ext cx="1307934" cy="22814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00" b="1">
                <a:solidFill>
                  <a:srgbClr val="000000"/>
                </a:solidFill>
                <a:latin typeface="SimHei"/>
              </a:defRPr>
            </a:pPr>
            <a:r>
              <a:t>分布式软总线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48598" y="3351276"/>
            <a:ext cx="1307934" cy="22814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00" b="1">
                <a:solidFill>
                  <a:srgbClr val="000000"/>
                </a:solidFill>
                <a:latin typeface="SimHei"/>
              </a:defRPr>
            </a:pPr>
            <a:r>
              <a:t>安全子系统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3606850"/>
            <a:ext cx="1307934" cy="22814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00" b="1">
                <a:solidFill>
                  <a:srgbClr val="000000"/>
                </a:solidFill>
                <a:latin typeface="SimHei"/>
              </a:defRPr>
            </a:pPr>
            <a:r>
              <a:t>方舟多语言运行时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48598" y="3606850"/>
            <a:ext cx="1307934" cy="22814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00" b="1">
                <a:solidFill>
                  <a:srgbClr val="000000"/>
                </a:solidFill>
                <a:latin typeface="SimHei"/>
              </a:defRPr>
            </a:pPr>
            <a:r>
              <a:t>AI软件服务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862425"/>
            <a:ext cx="2643301" cy="16459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700" b="1">
                <a:solidFill>
                  <a:srgbClr val="000000"/>
                </a:solidFill>
                <a:latin typeface="SimHei"/>
              </a:defRPr>
            </a:pPr>
            <a:r>
              <a:t>公共基础类库子系统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965" y="2840126"/>
            <a:ext cx="2643301" cy="173431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1">
                <a:solidFill>
                  <a:srgbClr val="000000"/>
                </a:solidFill>
                <a:latin typeface="SimHei"/>
              </a:defRPr>
            </a:pPr>
            <a:r>
              <a:t>事件通知子系统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965" y="3040989"/>
            <a:ext cx="2643301" cy="173431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1">
                <a:solidFill>
                  <a:srgbClr val="000000"/>
                </a:solidFill>
                <a:latin typeface="SimHei"/>
              </a:defRPr>
            </a:pPr>
            <a:r>
              <a:t>通信子系统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965" y="3241852"/>
            <a:ext cx="2643301" cy="173431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1">
                <a:solidFill>
                  <a:srgbClr val="000000"/>
                </a:solidFill>
                <a:latin typeface="SimHei"/>
              </a:defRPr>
            </a:pPr>
            <a:r>
              <a:t>媒体子系统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965" y="3442715"/>
            <a:ext cx="2643301" cy="173431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1">
                <a:solidFill>
                  <a:srgbClr val="000000"/>
                </a:solidFill>
                <a:latin typeface="SimHei"/>
              </a:defRPr>
            </a:pPr>
            <a:r>
              <a:t>DFX子系统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965" y="3643579"/>
            <a:ext cx="2643301" cy="173431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1">
                <a:solidFill>
                  <a:srgbClr val="000000"/>
                </a:solidFill>
                <a:latin typeface="SimHei"/>
              </a:defRPr>
            </a:pPr>
            <a:r>
              <a:t>测试子系统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965" y="3844442"/>
            <a:ext cx="2643301" cy="173431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1">
                <a:solidFill>
                  <a:srgbClr val="000000"/>
                </a:solidFill>
                <a:latin typeface="SimHei"/>
              </a:defRPr>
            </a:pPr>
            <a:r>
              <a:t>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54699" y="2840126"/>
            <a:ext cx="2643301" cy="27386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1">
                <a:solidFill>
                  <a:srgbClr val="000000"/>
                </a:solidFill>
                <a:latin typeface="SimHei"/>
              </a:defRPr>
            </a:pPr>
            <a:r>
              <a:t>智慧屏业务子系统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54699" y="3141421"/>
            <a:ext cx="2643301" cy="27386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1">
                <a:solidFill>
                  <a:srgbClr val="000000"/>
                </a:solidFill>
                <a:latin typeface="SimHei"/>
              </a:defRPr>
            </a:pPr>
            <a:r>
              <a:t>穿戴业务子系统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54699" y="3442715"/>
            <a:ext cx="2643301" cy="27386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1">
                <a:solidFill>
                  <a:srgbClr val="000000"/>
                </a:solidFill>
                <a:latin typeface="SimHei"/>
              </a:defRPr>
            </a:pPr>
            <a:r>
              <a:t>IOT业务子系统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54699" y="3744010"/>
            <a:ext cx="2643301" cy="27386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1">
                <a:solidFill>
                  <a:srgbClr val="000000"/>
                </a:solidFill>
                <a:latin typeface="SimHei"/>
              </a:defRPr>
            </a:pPr>
            <a:r>
              <a:t>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25433" y="2840126"/>
            <a:ext cx="2643301" cy="213603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1">
                <a:solidFill>
                  <a:srgbClr val="000000"/>
                </a:solidFill>
                <a:latin typeface="SimHei"/>
              </a:defRPr>
            </a:pPr>
            <a:r>
              <a:t>位置服务子系统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25433" y="3081162"/>
            <a:ext cx="2643301" cy="213603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1">
                <a:solidFill>
                  <a:srgbClr val="000000"/>
                </a:solidFill>
                <a:latin typeface="SimHei"/>
              </a:defRPr>
            </a:pPr>
            <a:r>
              <a:t>生物特征识别子系统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25433" y="3322198"/>
            <a:ext cx="2643301" cy="213603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1">
                <a:solidFill>
                  <a:srgbClr val="000000"/>
                </a:solidFill>
                <a:latin typeface="SimHei"/>
              </a:defRPr>
            </a:pPr>
            <a:r>
              <a:t>穿戴专有硬件服务子系统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25433" y="3563233"/>
            <a:ext cx="2643301" cy="213603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1">
                <a:solidFill>
                  <a:srgbClr val="000000"/>
                </a:solidFill>
                <a:latin typeface="SimHei"/>
              </a:defRPr>
            </a:pPr>
            <a:r>
              <a:t>IOT专有硬件服务子系统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25433" y="3804269"/>
            <a:ext cx="2643301" cy="213603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00" b="1">
                <a:solidFill>
                  <a:srgbClr val="000000"/>
                </a:solidFill>
                <a:latin typeface="SimHei"/>
              </a:defRPr>
            </a:pPr>
            <a:r>
              <a:t>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100169"/>
            <a:ext cx="11231575" cy="1269187"/>
          </a:xfrm>
          <a:prstGeom prst="rect">
            <a:avLst/>
          </a:prstGeom>
          <a:solidFill>
            <a:srgbClr val="E6F0FA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82880" y="4100169"/>
            <a:ext cx="457200" cy="1269187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内核层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" y="4145889"/>
            <a:ext cx="2109155" cy="575157"/>
          </a:xfrm>
          <a:prstGeom prst="rect">
            <a:avLst/>
          </a:prstGeom>
          <a:solidFill>
            <a:srgbClr val="FFFFFF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KAL (内核抽象层)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49819" y="4145889"/>
            <a:ext cx="2109155" cy="575157"/>
          </a:xfrm>
          <a:prstGeom prst="rect">
            <a:avLst/>
          </a:prstGeom>
          <a:solidFill>
            <a:srgbClr val="FFFFFF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内核子系统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6406" y="4145889"/>
            <a:ext cx="2109155" cy="575157"/>
          </a:xfrm>
          <a:prstGeom prst="rect">
            <a:avLst/>
          </a:prstGeom>
          <a:solidFill>
            <a:srgbClr val="FFFFFF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Linux Kernel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22993" y="4145889"/>
            <a:ext cx="2109155" cy="575157"/>
          </a:xfrm>
          <a:prstGeom prst="rect">
            <a:avLst/>
          </a:prstGeom>
          <a:solidFill>
            <a:srgbClr val="FFFFFF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LiteOS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59580" y="4145889"/>
            <a:ext cx="2109155" cy="575157"/>
          </a:xfrm>
          <a:prstGeom prst="rect">
            <a:avLst/>
          </a:prstGeom>
          <a:solidFill>
            <a:srgbClr val="FFFFFF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Hongmeng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3232" y="4748479"/>
            <a:ext cx="5314035" cy="575157"/>
          </a:xfrm>
          <a:prstGeom prst="rect">
            <a:avLst/>
          </a:prstGeom>
          <a:solidFill>
            <a:srgbClr val="FFFFFF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驱动子系统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54699" y="4748479"/>
            <a:ext cx="5314035" cy="575157"/>
          </a:xfrm>
          <a:prstGeom prst="rect">
            <a:avLst/>
          </a:prstGeom>
          <a:solidFill>
            <a:srgbClr val="FFFFFF"/>
          </a:solidFill>
          <a:ln>
            <a:solidFill>
              <a:srgbClr val="B8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HDF (统一驱动框架)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" y="5405932"/>
            <a:ext cx="11231575" cy="1269187"/>
          </a:xfrm>
          <a:prstGeom prst="rect">
            <a:avLst/>
          </a:prstGeom>
          <a:solidFill>
            <a:srgbClr val="6C6C6C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82880" y="5405932"/>
            <a:ext cx="457200" cy="1269187"/>
          </a:xfrm>
          <a:prstGeom prst="rect">
            <a:avLst/>
          </a:prstGeom>
          <a:solidFill>
            <a:srgbClr val="6C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000000"/>
                </a:solidFill>
                <a:latin typeface="SimHei"/>
              </a:defRPr>
            </a:pPr>
            <a:r>
              <a:t>芯片层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3232" y="5451652"/>
            <a:ext cx="2643301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海思平台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83965" y="5451652"/>
            <a:ext cx="2643301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L2 磐石开发板 (麒麟8000)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54699" y="5451652"/>
            <a:ext cx="2643301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L1 hispark_aiffy (HI3403V100)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25433" y="5451652"/>
            <a:ext cx="2643301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L0 恒玄、博流…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" y="6054242"/>
            <a:ext cx="2643301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其它芯片平台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383965" y="6054242"/>
            <a:ext cx="2643301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L2 展锐P7885、LoongArch…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54699" y="6054242"/>
            <a:ext cx="2643301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L1 RISC-V…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725433" y="6054242"/>
            <a:ext cx="2643301" cy="575157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000000"/>
                </a:solidFill>
                <a:latin typeface="SimHei"/>
              </a:defRPr>
            </a:pPr>
            <a:r>
              <a:t>L0 恒玄、博流…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460175" y="182880"/>
            <a:ext cx="548640" cy="649224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0000"/>
                </a:solidFill>
                <a:latin typeface="SimHei"/>
              </a:defRPr>
            </a:pPr>
            <a:r>
              <a:t>I</a:t>
            </a:r>
            <a:br/>
            <a:r>
              <a:t>D</a:t>
            </a:r>
            <a:br/>
            <a:r>
              <a:t>E</a:t>
            </a:r>
            <a:br/>
            <a:r>
              <a:t>和</a:t>
            </a:r>
            <a:br/>
            <a:r>
              <a:t>工</a:t>
            </a:r>
            <a:br/>
            <a:r>
              <a:t>具</a:t>
            </a:r>
            <a:br/>
            <a:r>
              <a:t>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